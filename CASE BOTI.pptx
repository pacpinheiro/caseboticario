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exend Medium"/>
      <p:regular r:id="rId15"/>
      <p:bold r:id="rId16"/>
    </p:embeddedFont>
    <p:embeddedFont>
      <p:font typeface="Lexend"/>
      <p:regular r:id="rId17"/>
      <p:bold r:id="rId18"/>
    </p:embeddedFont>
    <p:embeddedFont>
      <p:font typeface="Lexend Black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07C877-14F8-4A1D-B0E3-1EF7ABA3E180}">
  <a:tblStyle styleId="{AB07C877-14F8-4A1D-B0E3-1EF7ABA3E1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exend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exend-regular.fntdata"/><Relationship Id="rId16" Type="http://schemas.openxmlformats.org/officeDocument/2006/relationships/font" Target="fonts/LexendMedium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exendBlack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eb265df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b1eb265df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1eb265df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1eb265d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1eb265df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1eb265df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eb265df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eb265df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3668613" y="714375"/>
            <a:ext cx="5475300" cy="3714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31">
  <p:cSld name="TITLE_13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777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711347" y="1733550"/>
            <a:ext cx="26877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700"/>
              <a:buFont typeface="Montserrat"/>
              <a:buNone/>
            </a:pPr>
            <a:r>
              <a:rPr lang="pt-BR" sz="4700">
                <a:solidFill>
                  <a:srgbClr val="FFFFFF"/>
                </a:solidFill>
                <a:latin typeface="Lexend Black"/>
                <a:ea typeface="Lexend Black"/>
                <a:cs typeface="Lexend Black"/>
                <a:sym typeface="Lexend Black"/>
              </a:rPr>
              <a:t>Supply Chain</a:t>
            </a:r>
            <a:endParaRPr i="0" sz="500" u="none" cap="none" strike="noStrike">
              <a:solidFill>
                <a:srgbClr val="FFFFF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714375" y="2534550"/>
            <a:ext cx="2684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lang="pt-BR" sz="1600">
                <a:solidFill>
                  <a:srgbClr val="FFFFFF"/>
                </a:solidFill>
                <a:latin typeface="Lexend Medium"/>
                <a:ea typeface="Lexend Medium"/>
                <a:cs typeface="Lexend Medium"/>
                <a:sym typeface="Lexend Medium"/>
              </a:rPr>
              <a:t>CASE TÉCNICO</a:t>
            </a:r>
            <a:endParaRPr i="0" sz="500" u="none" cap="none" strike="noStrike">
              <a:solidFill>
                <a:srgbClr val="FFFF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2" name="Google Shape;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275" y="1854250"/>
            <a:ext cx="2695575" cy="7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5550" y="6425"/>
            <a:ext cx="9132900" cy="816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5900" y="4846625"/>
            <a:ext cx="1408175" cy="2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/>
        </p:nvSpPr>
        <p:spPr>
          <a:xfrm>
            <a:off x="43250" y="162725"/>
            <a:ext cx="8597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highlight>
                  <a:srgbClr val="B7B7B7"/>
                </a:highlight>
                <a:latin typeface="Lexend"/>
                <a:ea typeface="Lexend"/>
                <a:cs typeface="Lexend"/>
                <a:sym typeface="Lexend"/>
              </a:rPr>
              <a:t>Operational Health</a:t>
            </a:r>
            <a:r>
              <a:rPr b="1" lang="pt-BR" sz="2000">
                <a:solidFill>
                  <a:schemeClr val="lt1"/>
                </a:solidFill>
                <a:highlight>
                  <a:srgbClr val="B7B7B7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/ </a:t>
            </a:r>
            <a: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Forec</a:t>
            </a:r>
            <a: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ast Accuracy (monthly)</a:t>
            </a:r>
            <a:b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previsão não captura a variabilidade do consumo e opera consistentemente acima do erro aceitável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125" y="858125"/>
            <a:ext cx="4880488" cy="18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33775" y="2325000"/>
            <a:ext cx="2841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Lexend"/>
              <a:buChar char="➔"/>
            </a:pPr>
            <a:r>
              <a:rPr lang="pt-BR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Realizado apresenta picos relevantes não capturados pelo modelo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778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Lexend"/>
              <a:buChar char="➔"/>
            </a:pPr>
            <a:r>
              <a:rPr lang="pt-BR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MAPE mensal permanece acima da média na maior parte do período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778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Lexend"/>
              <a:buChar char="➔"/>
            </a:pPr>
            <a:r>
              <a:rPr lang="pt-BR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Picos de erro coincidem com meses de maior volatilidade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8125" y="2868575"/>
            <a:ext cx="4880499" cy="18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433775" y="2071201"/>
            <a:ext cx="1680900" cy="253800"/>
          </a:xfrm>
          <a:prstGeom prst="roundRect">
            <a:avLst>
              <a:gd fmla="val 16667" name="adj"/>
            </a:avLst>
          </a:prstGeom>
          <a:solidFill>
            <a:srgbClr val="6E81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Destaques</a:t>
            </a:r>
            <a:endParaRPr b="1"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5550" y="824525"/>
            <a:ext cx="3700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KPI-box:</a:t>
            </a:r>
            <a:endParaRPr b="1"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MAPE médio: 72% | Target: ≤ 20% | Status:</a:t>
            </a:r>
            <a:r>
              <a:rPr lang="pt-BR" sz="1000">
                <a:solidFill>
                  <a:schemeClr val="dk1"/>
                </a:solidFill>
              </a:rPr>
              <a:t> 🔴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5550" y="6425"/>
            <a:ext cx="9132900" cy="5889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5900" y="4846625"/>
            <a:ext cx="1408175" cy="2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5550" y="6425"/>
            <a:ext cx="8597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highlight>
                  <a:srgbClr val="B7B7B7"/>
                </a:highlight>
                <a:latin typeface="Lexend"/>
                <a:ea typeface="Lexend"/>
                <a:cs typeface="Lexend"/>
                <a:sym typeface="Lexend"/>
              </a:rPr>
              <a:t>DEEP DIVE </a:t>
            </a:r>
            <a: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/ Onde focar primeiro (Pareto)</a:t>
            </a:r>
            <a:br>
              <a:rPr b="1" lang="pt-BR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Concentração de impacto financeiro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625" y="712201"/>
            <a:ext cx="4458325" cy="17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25" y="2482075"/>
            <a:ext cx="4402700" cy="202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50" y="2482075"/>
            <a:ext cx="4402800" cy="20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484377" y="1246375"/>
            <a:ext cx="330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Lexend"/>
              <a:buChar char="➔"/>
            </a:pPr>
            <a:r>
              <a:rPr lang="pt-BR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Critérios diferentes levam a prioridades diferentes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778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Lexend"/>
              <a:buChar char="➔"/>
            </a:pPr>
            <a:r>
              <a:rPr lang="pt-BR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Famílias com alto valor e erro elevado devem ser levadas em consideração para a correção do modelo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84375" y="957701"/>
            <a:ext cx="1680900" cy="253800"/>
          </a:xfrm>
          <a:prstGeom prst="roundRect">
            <a:avLst>
              <a:gd fmla="val 16667" name="adj"/>
            </a:avLst>
          </a:prstGeom>
          <a:solidFill>
            <a:srgbClr val="6E81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Destaques</a:t>
            </a:r>
            <a:endParaRPr b="1"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52875" y="4444900"/>
            <a:ext cx="73779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Lexend"/>
              <a:buChar char="➔"/>
            </a:pPr>
            <a:r>
              <a:rPr lang="pt-BR" sz="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Levando em consideração o Pareto, famílias com mediana de erro alta e alta variabilidade são priorizadas</a:t>
            </a:r>
            <a:endParaRPr sz="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🔴 Prioridade por impacto absoluto: DES_D8183E10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857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🔴 Prioridade por risco de modelagem: DES_82AD34A6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5550" y="6425"/>
            <a:ext cx="9132900" cy="5889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5900" y="4846625"/>
            <a:ext cx="1408175" cy="2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5550" y="6425"/>
            <a:ext cx="859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highlight>
                  <a:srgbClr val="B7B7B7"/>
                </a:highlight>
                <a:latin typeface="Lexend"/>
                <a:ea typeface="Lexend"/>
                <a:cs typeface="Lexend"/>
                <a:sym typeface="Lexend"/>
              </a:rPr>
              <a:t>Ajuste fino do forecast + quick wins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879925" y="151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{AB07C877-14F8-4A1D-B0E3-1EF7ABA3E180}</a:tableStyleId>
              </a:tblPr>
              <a:tblGrid>
                <a:gridCol w="1749275"/>
                <a:gridCol w="1269775"/>
                <a:gridCol w="1623775"/>
                <a:gridCol w="22131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Família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Tipo de Prioridade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Problema Principal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Ação Recomendada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DES_D8183E10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Impacto absoluto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Volume elevado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Ajuste fino + quick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DES_82AD34A6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Risco de modelagem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Alta variabilidade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Lexend"/>
                          <a:ea typeface="Lexend"/>
                          <a:cs typeface="Lexend"/>
                          <a:sym typeface="Lexend"/>
                        </a:rPr>
                        <a:t>Segmentação / novo modelo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18"/>
          <p:cNvSpPr/>
          <p:nvPr/>
        </p:nvSpPr>
        <p:spPr>
          <a:xfrm>
            <a:off x="948300" y="1058926"/>
            <a:ext cx="1680900" cy="253800"/>
          </a:xfrm>
          <a:prstGeom prst="roundRect">
            <a:avLst>
              <a:gd fmla="val 16667" name="adj"/>
            </a:avLst>
          </a:prstGeom>
          <a:solidFill>
            <a:srgbClr val="6E81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Quadro de Tratativas</a:t>
            </a:r>
            <a:endParaRPr b="1"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781045" y="3374700"/>
            <a:ext cx="4126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Impacto esperado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●"/>
            </a:pPr>
            <a: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Redução de erro absoluto nas famílias de maior volume</a:t>
            </a:r>
            <a:b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●"/>
            </a:pPr>
            <a: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Melhoria da robustez do forecast em famílias voláteis</a:t>
            </a:r>
            <a:b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●"/>
            </a:pPr>
            <a:r>
              <a:rPr lang="pt-B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Direcionamento mais eficiente do esforço analítico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219425" y="3517475"/>
            <a:ext cx="3000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Horizonte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pt-BR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Quick wins: curto prazo</a:t>
            </a:r>
            <a:br>
              <a:rPr lang="pt-BR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pt-BR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Revisão estrutural: médio prazo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